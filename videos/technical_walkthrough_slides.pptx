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1F1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A1F1A"/>
                </a:solidFill>
                <a:latin typeface="Arial"/>
              </a:rPr>
              <a:t>Loss vs. epoch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loss</c:v>
                </c:pt>
              </c:strCache>
            </c:strRef>
          </c:tx>
          <c:spPr>
            <a:solidFill>
              <a:srgbClr val="1F4D2C"/>
            </a:solidFill>
            <a:ln w="25400" cap="flat">
              <a:solidFill>
                <a:srgbClr val="1F4D2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F4D2C"/>
              </a:solidFill>
              <a:ln w="9525" cap="flat">
                <a:solidFill>
                  <a:srgbClr val="1F4D2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Sheet1!$A$2:$A$28</c:f>
              <c:multiLvlStrCache>
                <c:ptCount val="27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  <c:pt idx="20">
                    <c:v>21</c:v>
                  </c:pt>
                  <c:pt idx="21">
                    <c:v>22</c:v>
                  </c:pt>
                  <c:pt idx="22">
                    <c:v>23</c:v>
                  </c:pt>
                  <c:pt idx="23">
                    <c:v>24</c:v>
                  </c:pt>
                  <c:pt idx="24">
                    <c:v>25</c:v>
                  </c:pt>
                  <c:pt idx="25">
                    <c:v>26</c:v>
                  </c:pt>
                  <c:pt idx="26">
                    <c:v>27</c:v>
                  </c:pt>
                </c:lvl>
              </c:multiLvlStrCache>
            </c:multiLvlStrRef>
          </c:cat>
          <c:val>
            <c:numRef>
              <c:f>Sheet1!$B$2:$B$28</c:f>
              <c:numCache>
                <c:formatCode>General</c:formatCode>
                <c:ptCount val="27"/>
                <c:pt idx="0">
                  <c:v>3.215</c:v>
                </c:pt>
                <c:pt idx="1">
                  <c:v>2.0473</c:v>
                </c:pt>
                <c:pt idx="2">
                  <c:v>1.519</c:v>
                </c:pt>
                <c:pt idx="3">
                  <c:v>1.3321</c:v>
                </c:pt>
                <c:pt idx="4">
                  <c:v>1.2328</c:v>
                </c:pt>
                <c:pt idx="5">
                  <c:v>1.166</c:v>
                </c:pt>
                <c:pt idx="6">
                  <c:v>1.1154</c:v>
                </c:pt>
                <c:pt idx="7">
                  <c:v>1.0742</c:v>
                </c:pt>
                <c:pt idx="8">
                  <c:v>1.0389</c:v>
                </c:pt>
                <c:pt idx="9">
                  <c:v>1.0077</c:v>
                </c:pt>
                <c:pt idx="10">
                  <c:v>0.9792</c:v>
                </c:pt>
                <c:pt idx="11">
                  <c:v>0.9527</c:v>
                </c:pt>
                <c:pt idx="12">
                  <c:v>0.9267</c:v>
                </c:pt>
                <c:pt idx="13">
                  <c:v>0.9014</c:v>
                </c:pt>
                <c:pt idx="14">
                  <c:v>0.8767</c:v>
                </c:pt>
                <c:pt idx="15">
                  <c:v>0.8519</c:v>
                </c:pt>
                <c:pt idx="16">
                  <c:v>0.8274</c:v>
                </c:pt>
                <c:pt idx="17">
                  <c:v>0.8032</c:v>
                </c:pt>
                <c:pt idx="18">
                  <c:v>0.7788</c:v>
                </c:pt>
                <c:pt idx="19">
                  <c:v>0.7546</c:v>
                </c:pt>
                <c:pt idx="20">
                  <c:v>0.7307</c:v>
                </c:pt>
                <c:pt idx="21">
                  <c:v>0.7077</c:v>
                </c:pt>
                <c:pt idx="22">
                  <c:v>0.6843</c:v>
                </c:pt>
                <c:pt idx="23">
                  <c:v>0.6621</c:v>
                </c:pt>
                <c:pt idx="24">
                  <c:v>0.6405</c:v>
                </c:pt>
                <c:pt idx="25">
                  <c:v>0.6195</c:v>
                </c:pt>
                <c:pt idx="26">
                  <c:v>0.5989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 loss</c:v>
                </c:pt>
              </c:strCache>
            </c:strRef>
          </c:tx>
          <c:spPr>
            <a:solidFill>
              <a:srgbClr val="C2410C"/>
            </a:solidFill>
            <a:ln w="25400" cap="flat">
              <a:solidFill>
                <a:srgbClr val="C2410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2410C"/>
              </a:solidFill>
              <a:ln w="9525" cap="flat">
                <a:solidFill>
                  <a:srgbClr val="C2410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Sheet1!$A$2:$A$28</c:f>
              <c:multiLvlStrCache>
                <c:ptCount val="27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  <c:pt idx="20">
                    <c:v>21</c:v>
                  </c:pt>
                  <c:pt idx="21">
                    <c:v>22</c:v>
                  </c:pt>
                  <c:pt idx="22">
                    <c:v>23</c:v>
                  </c:pt>
                  <c:pt idx="23">
                    <c:v>24</c:v>
                  </c:pt>
                  <c:pt idx="24">
                    <c:v>25</c:v>
                  </c:pt>
                  <c:pt idx="25">
                    <c:v>26</c:v>
                  </c:pt>
                  <c:pt idx="26">
                    <c:v>27</c:v>
                  </c:pt>
                </c:lvl>
              </c:multiLvlStrCache>
            </c:multiLvlStrRef>
          </c:cat>
          <c:val>
            <c:numRef>
              <c:f>Sheet1!$C$2:$C$28</c:f>
              <c:numCache>
                <c:formatCode>General</c:formatCode>
                <c:ptCount val="27"/>
                <c:pt idx="0">
                  <c:v>2.3133</c:v>
                </c:pt>
                <c:pt idx="1">
                  <c:v>1.5654</c:v>
                </c:pt>
                <c:pt idx="2">
                  <c:v>1.3106</c:v>
                </c:pt>
                <c:pt idx="3">
                  <c:v>1.2112</c:v>
                </c:pt>
                <c:pt idx="4">
                  <c:v>1.1467</c:v>
                </c:pt>
                <c:pt idx="5">
                  <c:v>1.1044</c:v>
                </c:pt>
                <c:pt idx="6">
                  <c:v>1.07</c:v>
                </c:pt>
                <c:pt idx="7">
                  <c:v>1.0448</c:v>
                </c:pt>
                <c:pt idx="8">
                  <c:v>1.0232</c:v>
                </c:pt>
                <c:pt idx="9">
                  <c:v>1.0114</c:v>
                </c:pt>
                <c:pt idx="10">
                  <c:v>0.9918</c:v>
                </c:pt>
                <c:pt idx="11">
                  <c:v>0.983</c:v>
                </c:pt>
                <c:pt idx="12">
                  <c:v>0.974</c:v>
                </c:pt>
                <c:pt idx="13">
                  <c:v>0.9664</c:v>
                </c:pt>
                <c:pt idx="14">
                  <c:v>0.9623</c:v>
                </c:pt>
                <c:pt idx="15">
                  <c:v>0.9578</c:v>
                </c:pt>
                <c:pt idx="16">
                  <c:v>0.9547</c:v>
                </c:pt>
                <c:pt idx="17">
                  <c:v>0.9627</c:v>
                </c:pt>
                <c:pt idx="18">
                  <c:v>0.963</c:v>
                </c:pt>
                <c:pt idx="19">
                  <c:v>0.9609</c:v>
                </c:pt>
                <c:pt idx="20">
                  <c:v>0.9659</c:v>
                </c:pt>
                <c:pt idx="21">
                  <c:v>0.9721</c:v>
                </c:pt>
                <c:pt idx="22">
                  <c:v>0.9803</c:v>
                </c:pt>
                <c:pt idx="23">
                  <c:v>0.9922</c:v>
                </c:pt>
                <c:pt idx="24">
                  <c:v>0.9908</c:v>
                </c:pt>
                <c:pt idx="25">
                  <c:v>1.0152</c:v>
                </c:pt>
                <c:pt idx="26">
                  <c:v>1.0165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B7368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6B7368"/>
                    </a:solidFill>
                    <a:latin typeface="Arial"/>
                  </a:rPr>
                  <a:t>epoch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3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4D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3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D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ceol-gpt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5C8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walkthrough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8046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A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47M-parameter decoder-only transformer trained from scratch to generate Irish folk tunes in ABC notation, conditioned on tune type and key.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3749040"/>
            <a:ext cx="25603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FD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3749040"/>
            <a:ext cx="73152" cy="1005840"/>
          </a:xfrm>
          <a:prstGeom prst="rect">
            <a:avLst/>
          </a:prstGeom>
          <a:solidFill>
            <a:srgbClr val="1F4D2C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82219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D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54,246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" y="42976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tunes from TheSession.org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3749040"/>
            <a:ext cx="25603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FD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3749040"/>
            <a:ext cx="73152" cy="1005840"/>
          </a:xfrm>
          <a:prstGeom prst="rect">
            <a:avLst/>
          </a:prstGeom>
          <a:solidFill>
            <a:srgbClr val="1F4D2C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382219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D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 / 23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474720" y="42976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types  ·  key/modes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3749040"/>
            <a:ext cx="25603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FD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3749040"/>
            <a:ext cx="73152" cy="1005840"/>
          </a:xfrm>
          <a:prstGeom prst="rect">
            <a:avLst/>
          </a:prstGeom>
          <a:solidFill>
            <a:srgbClr val="1F4D2C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382219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4D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~930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217920" y="42976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vocabulary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D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GPT-2 style decoder-only transformer  ·  pre-norm  ·  weight tying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828800" y="1280160"/>
            <a:ext cx="4206240" cy="640080"/>
          </a:xfrm>
          <a:prstGeom prst="rect">
            <a:avLst/>
          </a:prstGeom>
          <a:solidFill>
            <a:srgbClr val="EFEAD8"/>
          </a:solidFill>
          <a:ln w="12700">
            <a:solidFill>
              <a:srgbClr val="C9C4B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965960" y="1316736"/>
            <a:ext cx="39319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tokens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965960" y="16002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&lt;TYPE:reel&gt;  &lt;KEY:Dmajor&gt;  &lt;METER:4/4&gt;  &lt;BOS&gt;  G2 BG …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28800" y="192024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8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828800" y="2103120"/>
            <a:ext cx="4206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4B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65960" y="2139696"/>
            <a:ext cx="393192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embedding  +  positional embedding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965960" y="24231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 930 → d_model 512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28800" y="274320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8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828800" y="2926080"/>
            <a:ext cx="4206240" cy="914400"/>
          </a:xfrm>
          <a:prstGeom prst="rect">
            <a:avLst/>
          </a:prstGeom>
          <a:solidFill>
            <a:srgbClr val="E8EFE0"/>
          </a:solidFill>
          <a:ln w="12700">
            <a:solidFill>
              <a:srgbClr val="5C8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65960" y="2962656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block × 12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965960" y="33832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LayerNorm → Causal MHA (8 heads) + residual    ·    LayerNorm → FFN (512→2048→512, GELU) + residual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0" y="384048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8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828800" y="4023360"/>
            <a:ext cx="4206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4B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65960" y="402336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LayerNorm  →  LM head (tied to embedding)  →  logits over 930-token vocab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0" y="1280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F4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PRE-NORM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0" y="153619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LayerNorm before each sub-layer for stable training from scratch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0" y="2148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F4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TYING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0" y="240487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 head shares the embedding weights (~½M params saved)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0" y="3017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F4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MASK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0" y="327355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as a buffer; padding masked separately in attention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0" y="3886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F4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0" y="414223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cross-attention — header tokens flow through standard self-attn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2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4D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 · cosine LR w/ warmup · fp16 · early stopping · 85/10/5 split at the tune level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280160"/>
          <a:ext cx="521208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035040" y="1371600"/>
            <a:ext cx="54864" cy="658368"/>
          </a:xfrm>
          <a:prstGeom prst="rect">
            <a:avLst/>
          </a:prstGeom>
          <a:solidFill>
            <a:srgbClr val="1F4D2C"/>
          </a:solidFill>
          <a:ln/>
        </p:spPr>
      </p:sp>
      <p:sp>
        <p:nvSpPr>
          <p:cNvPr id="6" name="Text 3"/>
          <p:cNvSpPr/>
          <p:nvPr/>
        </p:nvSpPr>
        <p:spPr>
          <a:xfrm>
            <a:off x="6199632" y="1371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4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199632" y="162763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≈ 0.60   ·   val ≈ 1.02   (best val: 0.955)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035040" y="2148840"/>
            <a:ext cx="54864" cy="658368"/>
          </a:xfrm>
          <a:prstGeom prst="rect">
            <a:avLst/>
          </a:prstGeom>
          <a:solidFill>
            <a:srgbClr val="1F4D2C"/>
          </a:solidFill>
          <a:ln/>
        </p:spPr>
      </p:sp>
      <p:sp>
        <p:nvSpPr>
          <p:cNvPr id="9" name="Text 6"/>
          <p:cNvSpPr/>
          <p:nvPr/>
        </p:nvSpPr>
        <p:spPr>
          <a:xfrm>
            <a:off x="6199632" y="21488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4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Train/val gap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199632" y="240487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but stable — not blowing up; checked separately for memorization.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035040" y="2926080"/>
            <a:ext cx="54864" cy="658368"/>
          </a:xfrm>
          <a:prstGeom prst="rect">
            <a:avLst/>
          </a:prstGeom>
          <a:solidFill>
            <a:srgbClr val="1F4D2C"/>
          </a:solidFill>
          <a:ln/>
        </p:spPr>
      </p:sp>
      <p:sp>
        <p:nvSpPr>
          <p:cNvPr id="12" name="Text 9"/>
          <p:cNvSpPr/>
          <p:nvPr/>
        </p:nvSpPr>
        <p:spPr>
          <a:xfrm>
            <a:off x="6199632" y="2926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4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Memorization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199632" y="318211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Longest n-gram overlap with training set is short, common phrases only.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035040" y="3703320"/>
            <a:ext cx="54864" cy="658368"/>
          </a:xfrm>
          <a:prstGeom prst="rect">
            <a:avLst/>
          </a:prstGeom>
          <a:solidFill>
            <a:srgbClr val="1F4D2C"/>
          </a:solidFill>
          <a:ln/>
        </p:spPr>
      </p:sp>
      <p:sp>
        <p:nvSpPr>
          <p:cNvPr id="15" name="Text 12"/>
          <p:cNvSpPr/>
          <p:nvPr/>
        </p:nvSpPr>
        <p:spPr>
          <a:xfrm>
            <a:off x="6199632" y="3703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4D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199632" y="395935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0.1 + weight decay + early stopping (patience 10).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4D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C8A4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2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was hard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5C8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554480" y="141732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2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Tokenizer iteration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54480" y="173736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 has many edge cases — chord symbols, grace notes, alt endings, decorations. Multiple regex revisions to capture musical structure without dropping information.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5C8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554480" y="246888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2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Padding-mask NaN bug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54480" y="278892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Fully-masked rows in attention softmax produce NaNs that corrupt the rest of the batch. Fix: nan_to_num after softmax + explicit padding-key masking.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5204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5C8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1554480" y="35204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2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Defining ‘good’ for a generative model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54480" y="384048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curves only go so far in a creative domain. Combined held-out perplexity, structural validity checks, and a memorization audit — plus a fiddle.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ceol-gpt — technical walkthrough</dc:title>
  <dc:subject>PptxGenJS Presentation</dc:subject>
  <dc:creator>Andrew McKnight</dc:creator>
  <cp:lastModifiedBy>Andrew McKnight</cp:lastModifiedBy>
  <cp:revision>1</cp:revision>
  <dcterms:created xsi:type="dcterms:W3CDTF">2026-04-26T22:55:37Z</dcterms:created>
  <dcterms:modified xsi:type="dcterms:W3CDTF">2026-04-26T22:55:37Z</dcterms:modified>
</cp:coreProperties>
</file>